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7"/>
    <p:restoredTop sz="94629"/>
  </p:normalViewPr>
  <p:slideViewPr>
    <p:cSldViewPr snapToGrid="0">
      <p:cViewPr varScale="1">
        <p:scale>
          <a:sx n="108" d="100"/>
          <a:sy n="108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005E9-6754-DD4B-87E3-E98B9BE07F52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BDE4-B894-EE41-999D-3D300157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AB97-3FE8-A794-D3F7-AF66F05AA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E2168-0493-D297-87AE-49D9A7B4B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73BC8-E156-663A-CC9B-47288BB1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F7A66-EABF-4343-ADE8-7ACC9211AD6D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D51D-B00A-FC37-A8EE-AADFF21C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231D0-1342-1F68-9E7F-B9491143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0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0796-EF0A-7E47-743E-2EECE931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BFEC4-B61E-087E-A435-11DB08FB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DDDFD-BE92-DB3B-C016-3DCD500F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205D6-AEFE-E147-B9B1-B5AA48846738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96772-F9E0-DC4E-8F46-58C02DE29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92024-3813-C1EC-21BE-538A0FE9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3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98AB-C89A-4770-B4FE-C060EAAB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87A2A-4F95-4BCD-2AA9-6174C0236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B3564-8E3D-DD9A-4704-55538F44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076F-A9A9-D54F-ABE9-A1E38D0AB58A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0EF05-A15B-60F6-94DD-4C2BB60B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2B9E-7FCD-599C-5A4E-124D325D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2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085D-6128-B4ED-3AC7-A01C1EDE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EBD8-66F0-BFD7-79FF-A83433F79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785A9-FC3C-5332-C4E2-B93074193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53B19-74DE-A45E-E1DC-3D5D6A83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68479-4F51-CC4E-A918-0E8C2A8A416E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BA777-C7ED-EBD5-B966-80BA7E1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880DC-D10A-0E5A-7EB8-269771E6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6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969C-5BE3-D462-0770-38A3CA55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DDFFE-7D61-B78B-7BCC-EBEE7109E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4FFF1-AE6A-DB7B-8F01-7EF9CD9AE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D674B-B478-208A-329D-68B3DE13A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8347B-BDBB-3A9D-D4DF-B45135B07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1B6B63-32E5-9B4A-DE99-1C2F9B1A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B184B-934C-344E-BB31-3CBC7A88E2B9}" type="datetime1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A13A1-7741-D5D4-6DE0-6AAB9DF8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C4A3E-1E37-6AE0-A874-BF0FAFFE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4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B880-232A-470F-09FE-953FB5D2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507AC-4054-32D7-7006-6C1AA429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A256A-1C09-3A43-8FF3-5E947F0DE77C}" type="datetime1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9FAA7-4BE1-F19F-FF33-40441F5E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95D8B-AF9F-92C1-C612-6DAA80C6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8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52188-2B5C-B3F8-9EE0-90F2B722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7CC13-E88E-7A4F-B391-591C960F6474}" type="datetime1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C5E2F-FB1E-5ADD-989D-E2328485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0DCC0-E5C5-6A3B-7368-FB1044E8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96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CF0C-F833-F6F8-3F7C-23266ACC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B602F-AD62-D18D-2B15-BA4EF2FD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25ECA-8F39-D243-5BFA-85CE92378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23FE0-6C82-B758-4CD6-BD614630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0A77-9B53-7D40-8800-CC9A2BF80CA9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79435-482D-A421-9C4F-B11D69E0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FE5B5-BC05-861A-3181-24F3CB39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6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1AC3-A8DF-B3B7-1A08-1D982E8C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4B0E5-DCD5-25BE-D80D-C29A8FF27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5ED47-C35F-B3FB-E61D-99F897842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5CDC1-BDC7-4447-8A3A-A62AD640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F1AF-295D-F54E-A463-01E9D3EF2D02}" type="datetime1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DCA9F-1425-2E8D-032C-D7CC940B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3291-9EC5-9FD8-EF3C-CBCA4DF3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2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B95E-2031-4B77-D8DA-F641CB8E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257D1-D896-62C0-85D4-97BF11C58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C5E37-4DF0-6B28-8F95-53811FB3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8966-CAF3-4C42-9200-63414944B3C4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76BD-EA56-B459-8A80-45B77944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BE2CB-DAB7-3D44-9DCF-3860374F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C183D8-ADC3-DC8E-7234-784F77B85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FF0B1-8312-14DF-9DD3-D20D3B83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2563-9790-1528-D7C3-F33DF99F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3462-1A9E-B84A-BF83-F2D66A48F018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30DB2-5DF2-B4A6-A1B6-DC60F96A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FBF2E-53EF-2CE4-B32A-BF89905F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7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F592C-C400-A71F-A9D2-BE5DF1DF0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0BDFA-DDAB-4DC8-0E4B-E87672BD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FC2D-96D0-56A8-02C7-C33871E58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C3E23-2370-C040-B5B4-7EEFDE55CE31}" type="datetime1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7F3B-EFF1-FE92-5C08-D17120D6B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C704D-24E4-BAB2-46BB-FE43DE3B6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A1D16-C4AD-3640-ACAA-FAA62B75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8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emusc@b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ametsoc.org/view/journals/bams/107/1/BAMS-D-24-0296.1.xml" TargetMode="External"/><Relationship Id="rId7" Type="http://schemas.openxmlformats.org/officeDocument/2006/relationships/hyperlink" Target="https://www.rtx.com/raytheon/what-we-do/strategic-missile-defense/upgraded-early-warning-rad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hyperlink" Target="https://www.usni.org/magazines/proceedings/2024/november/sonar-101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ems/01_intro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hyperlink" Target="https://courses.lumenlearning.com/suny-physics/chapter/27-6-limits-of-resolution-the-rayleigh-criterion/" TargetMode="External"/><Relationship Id="rId4" Type="http://schemas.openxmlformats.org/officeDocument/2006/relationships/hyperlink" Target="https://www.everythingrf.com/community/what-is-half-power-beam-width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pi.com/1424-8220/25/13/3888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canso.jpl.nasa.gov/SciTechBook/series2/02Chap1_110106_amf.pd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A138-54D7-85D2-FA00-86118167C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>
                <a:solidFill>
                  <a:schemeClr val="tx2"/>
                </a:solidFill>
              </a:rPr>
              <a:t>Synthetic Aperture Radar (SAR)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F3B9A-32D1-2BBA-ED86-5B25042E3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EC717: Image Reconstruction and Restoration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Department of Electrical and Computer Engineering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Christopher Lemus</a:t>
            </a: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lemusc@bu.edu</a:t>
            </a:r>
            <a:endParaRPr lang="en-US" sz="2400" dirty="0">
              <a:solidFill>
                <a:schemeClr val="tx2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April 09, 2026</a:t>
            </a:r>
          </a:p>
          <a:p>
            <a:endParaRPr lang="en-US" dirty="0"/>
          </a:p>
        </p:txBody>
      </p:sp>
      <p:pic>
        <p:nvPicPr>
          <p:cNvPr id="4" name="Picture 3" descr="A red sign with white text&#10;&#10;Description automatically generated">
            <a:extLst>
              <a:ext uri="{FF2B5EF4-FFF2-40B4-BE49-F238E27FC236}">
                <a16:creationId xmlns:a16="http://schemas.microsoft.com/office/drawing/2014/main" id="{5837446F-10F9-4CF4-28D2-21F36C8C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046" y="347023"/>
            <a:ext cx="2048947" cy="91576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B0A09-B615-7F89-58E4-95BA9468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1A43-17E5-8058-21EC-A53933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Motivation &amp;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ECD9-F148-DB71-8A41-B3D6303F6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Motive – provide context about radars, real world sources of error and explain how regularization can be used to compensate for these sources</a:t>
            </a:r>
          </a:p>
          <a:p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 overview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SAR and Why?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F5137-90CC-C43E-62BB-84315145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5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9D8D-573D-CF4F-A549-7E4178BA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3B3B-21D8-CBEF-6226-77A72F7B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RADAR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3A62-D7D7-87B8-E451-528C3650F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4013" cy="4351338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2"/>
              </a:buClr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 Detection and Ranging </a:t>
            </a:r>
          </a:p>
          <a:p>
            <a:pPr>
              <a:buClr>
                <a:schemeClr val="tx2"/>
              </a:buClr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early 20</a:t>
            </a:r>
            <a:r>
              <a:rPr lang="en-US" sz="18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century many scientists fascinated with idea of communicating transatlantic with electricity [1, p.1-6]</a:t>
            </a:r>
          </a:p>
          <a:p>
            <a:pPr>
              <a:buClr>
                <a:schemeClr val="tx2"/>
              </a:buClr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Emission of electromagnetic pulses of energy to open space, and “listen” for reflection in the form of very low power complex voltages</a:t>
            </a:r>
          </a:p>
          <a:p>
            <a:pPr>
              <a:buClr>
                <a:schemeClr val="tx2"/>
              </a:buClr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vs. Passive</a:t>
            </a:r>
          </a:p>
          <a:p>
            <a:pPr>
              <a:buClr>
                <a:schemeClr val="tx2"/>
              </a:buClr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different types of radars [1, p. 6]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(S-C 2 – 8 GHz)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 (P-Ka 0.3 – 40 GHz)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Over-the-Horizon (HF 0.003 – 0.03 GHz)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Ionosonde (MF-VHF 500kHz – 40Mhz)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(193.41 THz, 331.25 THz near IR 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SONAR (Sound Navigation and Ranging – 3Hz – 500kHz)</a:t>
            </a:r>
          </a:p>
          <a:p>
            <a:pPr lvl="1">
              <a:buClr>
                <a:schemeClr val="tx2"/>
              </a:buClr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more</a:t>
            </a:r>
          </a:p>
          <a:p>
            <a:pPr>
              <a:buClr>
                <a:schemeClr val="tx2"/>
              </a:buClr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2"/>
              </a:buClr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orus Weather RADAR by OU - https://journals.ametsoc.org/view/journals/bams/107/1/BAMS-D-24-0296.1.xml">
            <a:extLst>
              <a:ext uri="{FF2B5EF4-FFF2-40B4-BE49-F238E27FC236}">
                <a16:creationId xmlns:a16="http://schemas.microsoft.com/office/drawing/2014/main" id="{54151BEE-A544-7A82-46A9-7451A0606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06" y="633511"/>
            <a:ext cx="2928766" cy="1973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C06A7-6763-3DF8-232A-BA6E453CEF19}"/>
              </a:ext>
            </a:extLst>
          </p:cNvPr>
          <p:cNvSpPr txBox="1"/>
          <p:nvPr/>
        </p:nvSpPr>
        <p:spPr>
          <a:xfrm>
            <a:off x="8734406" y="2702507"/>
            <a:ext cx="292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Horus of OU - </a:t>
            </a:r>
            <a:r>
              <a:rPr lang="en-US" sz="800" dirty="0">
                <a:hlinkClick r:id="rId3"/>
              </a:rPr>
              <a:t>https://journals.ametsoc.org/view/journals/bams/107/1/BAMS-D-24-0296.1.xml</a:t>
            </a:r>
            <a:endParaRPr lang="en-US" sz="800" dirty="0"/>
          </a:p>
        </p:txBody>
      </p:sp>
      <p:pic>
        <p:nvPicPr>
          <p:cNvPr id="6" name="Picture 5" descr="A large round object with black and white circles&#10;&#10;Description automatically generated">
            <a:extLst>
              <a:ext uri="{FF2B5EF4-FFF2-40B4-BE49-F238E27FC236}">
                <a16:creationId xmlns:a16="http://schemas.microsoft.com/office/drawing/2014/main" id="{D5AC948E-D45E-3D66-2504-E4EB52245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213" y="630899"/>
            <a:ext cx="2745720" cy="1973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36607C-6EAC-6894-9B26-0D4F19D35134}"/>
              </a:ext>
            </a:extLst>
          </p:cNvPr>
          <p:cNvSpPr txBox="1"/>
          <p:nvPr/>
        </p:nvSpPr>
        <p:spPr>
          <a:xfrm>
            <a:off x="5640690" y="2704170"/>
            <a:ext cx="292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SONAR Array of NAVY- </a:t>
            </a:r>
            <a:r>
              <a:rPr lang="en-US" sz="800" dirty="0">
                <a:hlinkClick r:id="rId5"/>
              </a:rPr>
              <a:t>https://www.usni.org/magazines/proceedings/2024/november/sonar-101</a:t>
            </a:r>
            <a:r>
              <a:rPr lang="en-US" sz="800" dirty="0"/>
              <a:t> </a:t>
            </a:r>
          </a:p>
        </p:txBody>
      </p:sp>
      <p:pic>
        <p:nvPicPr>
          <p:cNvPr id="8" name="Picture 7" descr="A pyramid shaped building at night with Washington Monument in the background&#10;&#10;Description automatically generated">
            <a:extLst>
              <a:ext uri="{FF2B5EF4-FFF2-40B4-BE49-F238E27FC236}">
                <a16:creationId xmlns:a16="http://schemas.microsoft.com/office/drawing/2014/main" id="{45FDC3D3-655C-E92D-A0C6-0C2BB8535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147" y="3565046"/>
            <a:ext cx="5092096" cy="2482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86FA4-B3FC-0198-FDD9-966F7210380A}"/>
              </a:ext>
            </a:extLst>
          </p:cNvPr>
          <p:cNvSpPr txBox="1"/>
          <p:nvPr/>
        </p:nvSpPr>
        <p:spPr>
          <a:xfrm>
            <a:off x="7665399" y="6098264"/>
            <a:ext cx="292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UEWR - </a:t>
            </a:r>
            <a:r>
              <a:rPr lang="en-US" sz="800" dirty="0">
                <a:hlinkClick r:id="rId7"/>
              </a:rPr>
              <a:t>https://www.rtx.com/raytheon/what-we-do/strategic-missile-defense/upgraded-early-warning-radar</a:t>
            </a:r>
            <a:r>
              <a:rPr lang="en-US" sz="800" dirty="0"/>
              <a:t>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AAC9D9-B942-2EA1-1379-56D656B8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26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167AD-F4FC-816C-7C8E-9E2DE112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AF9B-2689-0F80-5350-E2161A045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EM Spectrum vs. Earths Atmosphere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E2C3-DB54-D949-719C-6EB7E22A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5" descr="A diagram of a magnetic field&#10;&#10;Description automatically generated">
            <a:extLst>
              <a:ext uri="{FF2B5EF4-FFF2-40B4-BE49-F238E27FC236}">
                <a16:creationId xmlns:a16="http://schemas.microsoft.com/office/drawing/2014/main" id="{2A41114A-FEC8-5C33-735C-E92ACCE5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967" y="1590665"/>
            <a:ext cx="7546991" cy="42338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4BE2E2-D11C-1A65-870C-7E7AA8BFBF40}"/>
              </a:ext>
            </a:extLst>
          </p:cNvPr>
          <p:cNvSpPr txBox="1"/>
          <p:nvPr/>
        </p:nvSpPr>
        <p:spPr>
          <a:xfrm>
            <a:off x="4465743" y="5944123"/>
            <a:ext cx="2928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https://science.nasa.gov/ems/01_intro/</a:t>
            </a:r>
            <a:r>
              <a:rPr lang="en-US" sz="1200" dirty="0"/>
              <a:t> </a:t>
            </a:r>
            <a:endParaRPr lang="en-US" sz="8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6D336F-3C13-4ADC-282B-2A27FE3F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4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8C89-6542-991F-676B-2B27452E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9954-EB3E-1866-3052-0D082B5B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Radar parameters to care about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2F5B6-AE46-FA0F-19BF-5A0B8D69F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1892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Antenna Half-Power Beamwidth (HPBW) – a characteristic, in degrees, of the transmitted main lobe width at the points of half the max power </a:t>
                </a:r>
                <a:r>
                  <a:rPr lang="en-US" sz="1200" i="1" dirty="0">
                    <a:solidFill>
                      <a:schemeClr val="tx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HPBW (degrees)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f>
                      <m:fPr>
                        <m:ctrlP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den>
                    </m:f>
                  </m:oMath>
                </a14:m>
                <a:endParaRPr lang="en-US" sz="1200" i="1" dirty="0">
                  <a:solidFill>
                    <a:schemeClr val="tx2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radar operating frequency wavelength (meters)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aperture diameter (meters)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= characteristic scalar value of antenna element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Rayleigh Criterion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=1.22</m:t>
                        </m:r>
                      </m:fName>
                      <m:e>
                        <m:f>
                          <m:fPr>
                            <m:ctrlPr>
                              <a:rPr lang="en-US" sz="12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tells us sources are just distinguishable when 2 point sources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when max is over first null </a:t>
                </a: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Quick example to show advantage of SAR [1, p. 86-87]: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Say you wanted 10 cm resolution with a satellite at altitude 100 miles in Low Earth Orbit (100 to 1,200 mi)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Create the trig problem: angular resolution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 </m:t>
                    </m:r>
                    <m:func>
                      <m:funcPr>
                        <m:ctrlP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tan</m:t>
                        </m:r>
                      </m:fName>
                      <m:e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10 </m:t>
                            </m:r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𝑐𝑚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150000 </m:t>
                            </m:r>
                            <m:r>
                              <a:rPr lang="en-US" sz="12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den>
                        </m:f>
                      </m:e>
                    </m:func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=0.667 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𝑟𝑎𝑑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0.000038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If we assume 100GHz then D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5500 meters 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300GHz then D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1850 meters </a:t>
                </a: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where SAR becomes advantageous…</a:t>
                </a: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2F5B6-AE46-FA0F-19BF-5A0B8D69F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18929" cy="4351338"/>
              </a:xfrm>
              <a:blipFill>
                <a:blip r:embed="rId2"/>
                <a:stretch>
                  <a:fillRect l="-158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Diagram of a diagram of a radio wave&#10;&#10;Description automatically generated">
            <a:extLst>
              <a:ext uri="{FF2B5EF4-FFF2-40B4-BE49-F238E27FC236}">
                <a16:creationId xmlns:a16="http://schemas.microsoft.com/office/drawing/2014/main" id="{6BB7C8FE-3683-6A12-8F76-3DEA5271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678" y="1121415"/>
            <a:ext cx="2817805" cy="1735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FED042-DCB1-2887-AEA2-4792E3149017}"/>
              </a:ext>
            </a:extLst>
          </p:cNvPr>
          <p:cNvSpPr txBox="1"/>
          <p:nvPr/>
        </p:nvSpPr>
        <p:spPr>
          <a:xfrm>
            <a:off x="8946197" y="2891214"/>
            <a:ext cx="292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Topological View Beampattern - </a:t>
            </a:r>
            <a:r>
              <a:rPr lang="en-US" sz="800" dirty="0">
                <a:hlinkClick r:id="rId4"/>
              </a:rPr>
              <a:t>https://www.everythingrf.com/community/what-is-half-power-beam-width</a:t>
            </a:r>
            <a:r>
              <a:rPr lang="en-US" sz="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76CA2-56C6-6075-8B55-43D388F60B3B}"/>
              </a:ext>
            </a:extLst>
          </p:cNvPr>
          <p:cNvSpPr txBox="1"/>
          <p:nvPr/>
        </p:nvSpPr>
        <p:spPr>
          <a:xfrm>
            <a:off x="8610600" y="5610029"/>
            <a:ext cx="3522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Rayleigh Criterion - </a:t>
            </a:r>
            <a:r>
              <a:rPr lang="en-US" sz="800" dirty="0">
                <a:hlinkClick r:id="rId5"/>
              </a:rPr>
              <a:t>https://courses.lumenlearning.com/suny-physics/chapter/27-6-limits-of-resolution-the-rayleigh-criterion/</a:t>
            </a:r>
            <a:r>
              <a:rPr lang="en-US" sz="800" dirty="0"/>
              <a:t> </a:t>
            </a:r>
          </a:p>
        </p:txBody>
      </p:sp>
      <p:pic>
        <p:nvPicPr>
          <p:cNvPr id="7" name="Picture 6" descr="A diagram of a light bulb diagram&#10;&#10;Description automatically generated">
            <a:extLst>
              <a:ext uri="{FF2B5EF4-FFF2-40B4-BE49-F238E27FC236}">
                <a16:creationId xmlns:a16="http://schemas.microsoft.com/office/drawing/2014/main" id="{30576985-B2D7-520D-F66A-112EA53C1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0999" y="3429000"/>
            <a:ext cx="2805640" cy="1977976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E302005-79BF-1632-7D04-5ADA05EB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0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79F3-72CD-27AD-DC48-F8315137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57E3-664C-3C48-FF17-E309C900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Radar parameters to care about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A7175-EDFB-D2B7-098A-C534EC8F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89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function / point spread function</a:t>
            </a:r>
            <a:endParaRPr lang="en-US" sz="1200" i="1" dirty="0">
              <a:solidFill>
                <a:schemeClr val="tx2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Describes interference of matched output to target of equal RCS</a:t>
            </a:r>
          </a:p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s(t) represents radar signal</a:t>
            </a:r>
          </a:p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volume equals 4E</a:t>
            </a:r>
            <a:r>
              <a:rPr lang="en-US" sz="12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AF is for impulse</a:t>
            </a:r>
          </a:p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AF are for Up &amp; Down chirp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17F47A2-C6BF-96FE-8417-2ECE26D1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4437410-B7FD-4205-2BBB-42DDB4B7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825625"/>
            <a:ext cx="2705100" cy="82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FB9689-A987-1213-B210-3A4122B88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411288"/>
            <a:ext cx="1993900" cy="279400"/>
          </a:xfrm>
          <a:prstGeom prst="rect">
            <a:avLst/>
          </a:prstGeom>
        </p:spPr>
      </p:pic>
      <p:pic>
        <p:nvPicPr>
          <p:cNvPr id="13" name="Picture 12" descr="A graph of a function&#10;&#10;Description automatically generated">
            <a:extLst>
              <a:ext uri="{FF2B5EF4-FFF2-40B4-BE49-F238E27FC236}">
                <a16:creationId xmlns:a16="http://schemas.microsoft.com/office/drawing/2014/main" id="{7D139FF0-4AA2-3AE0-ACFA-89A13243B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143000"/>
            <a:ext cx="3517900" cy="2286000"/>
          </a:xfrm>
          <a:prstGeom prst="rect">
            <a:avLst/>
          </a:prstGeom>
        </p:spPr>
      </p:pic>
      <p:pic>
        <p:nvPicPr>
          <p:cNvPr id="18" name="Picture 17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3F4E0011-63B0-286C-7E66-C605DAD4F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68" y="4780757"/>
            <a:ext cx="4978400" cy="990600"/>
          </a:xfrm>
          <a:prstGeom prst="rect">
            <a:avLst/>
          </a:prstGeom>
        </p:spPr>
      </p:pic>
      <p:pic>
        <p:nvPicPr>
          <p:cNvPr id="20" name="Picture 1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DA3D285-20D4-ED4D-4E49-B2F792674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768" y="3909498"/>
            <a:ext cx="5003800" cy="1054100"/>
          </a:xfrm>
          <a:prstGeom prst="rect">
            <a:avLst/>
          </a:prstGeom>
        </p:spPr>
      </p:pic>
      <p:pic>
        <p:nvPicPr>
          <p:cNvPr id="24" name="Picture 23" descr="A graph of a pyramid&#10;&#10;Description automatically generated">
            <a:extLst>
              <a:ext uri="{FF2B5EF4-FFF2-40B4-BE49-F238E27FC236}">
                <a16:creationId xmlns:a16="http://schemas.microsoft.com/office/drawing/2014/main" id="{886266D6-F989-FED7-70A9-A49929182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4568" y="4170093"/>
            <a:ext cx="3249963" cy="1971700"/>
          </a:xfrm>
          <a:prstGeom prst="rect">
            <a:avLst/>
          </a:prstGeom>
        </p:spPr>
      </p:pic>
      <p:pic>
        <p:nvPicPr>
          <p:cNvPr id="26" name="Picture 25" descr="A diagram of a waveform&#10;&#10;Description automatically generated">
            <a:extLst>
              <a:ext uri="{FF2B5EF4-FFF2-40B4-BE49-F238E27FC236}">
                <a16:creationId xmlns:a16="http://schemas.microsoft.com/office/drawing/2014/main" id="{024C9A03-3114-E7D5-156A-3BBABABCDD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06" y="3861709"/>
            <a:ext cx="3517901" cy="238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6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F849-B06F-D854-D4CE-8F3CAC0E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D4B8-77B1-2D24-559B-AF43DBA8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SAR parameters to care about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7AC21-2001-9C13-7D9D-151E3681B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“Synthetic Aperture” D =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𝐶𝑅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“aperture time” or time spent scanning in cross range direction,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velocity of aperture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aperture size designed based on desired Cross Range resolution – a wider beam is desired to illuminate target longer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 Cross Range resolution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2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Doppler Bandwidth of SAR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doppler bandwidth </a:t>
                </a: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 higher resolution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advantage is excellent range and cross range resolution can be achieved versus having a massive radar floating in space</a:t>
                </a:r>
              </a:p>
              <a:p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few modes</a:t>
                </a:r>
              </a:p>
              <a:p>
                <a:endParaRPr lang="en-US" sz="1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A7AC21-2001-9C13-7D9D-151E3681B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 of a diagram of a sar&#10;&#10;Description automatically generated">
            <a:extLst>
              <a:ext uri="{FF2B5EF4-FFF2-40B4-BE49-F238E27FC236}">
                <a16:creationId xmlns:a16="http://schemas.microsoft.com/office/drawing/2014/main" id="{CD4A4D1D-F0BA-462E-CD91-0B6C26172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04" y="3429000"/>
            <a:ext cx="6883400" cy="2984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CC8DCD-15BD-163C-808D-C2EFF8D048AF}"/>
              </a:ext>
            </a:extLst>
          </p:cNvPr>
          <p:cNvSpPr txBox="1"/>
          <p:nvPr/>
        </p:nvSpPr>
        <p:spPr>
          <a:xfrm>
            <a:off x="9151406" y="4754216"/>
            <a:ext cx="19012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Article -- Spaceborne Sparse SAR Imaging Mode Design: From Theory to Implementation </a:t>
            </a:r>
            <a:r>
              <a:rPr lang="en-US" sz="800" dirty="0" err="1"/>
              <a:t>Yufan</a:t>
            </a:r>
            <a:r>
              <a:rPr lang="en-US" sz="800" dirty="0"/>
              <a:t> Song et al</a:t>
            </a:r>
          </a:p>
          <a:p>
            <a:r>
              <a:rPr lang="en-US" sz="800" dirty="0">
                <a:hlinkClick r:id="rId4"/>
              </a:rPr>
              <a:t>https://www.mdpi.com/1424-8220/25/13/3888</a:t>
            </a:r>
            <a:r>
              <a:rPr lang="en-US" sz="800" dirty="0"/>
              <a:t>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DADBF-506A-F01B-ADAA-79D19619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8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4191-533B-0680-F4EA-9E15C142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1BA2D-04C5-448C-8905-ECC278B7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of Synthesized Aperture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456A43-72F6-8B07-E07C-36C07444DB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to slide 4 example problem 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4.8mi/s or 7.8km/s  at LEO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Aperture length =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 * 2 = 20 cm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 =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0.667 rad * 150000m = 0.10 meter = 10 cm cross range resolution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 =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𝐶𝑅</m:t>
                        </m:r>
                      </m:den>
                    </m:f>
                    <m:r>
                      <a:rPr lang="en-US" sz="12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0.003 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∗150000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∗0.1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en-US" sz="120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2250 m the aperture needs to traverse to achieve the proper range resolution @ 100GHz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0.001 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∗150000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∗0.1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en-US" sz="120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750 m the aperture needs to traverse to achieve the proper range resolution @ 300GHz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at these frequencies, signal is highly attenuated. A more real-world application below</a:t>
                </a: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r>
                      <a:rPr lang="en-US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2∆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𝐶𝑅</m:t>
                        </m:r>
                      </m:den>
                    </m:f>
                    <m:r>
                      <a:rPr lang="en-US" sz="12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0.03 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∗150000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1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∗0.1 </m:t>
                        </m:r>
                        <m:r>
                          <a:rPr lang="en-US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en-US" sz="120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22500 m the aperture needs to traverse to achieve the proper range resolution @ 10GHz .. Considering velocity, means scan time of about 3 seconds </a:t>
                </a: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2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456A43-72F6-8B07-E07C-36C07444DB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F4AF-44FE-307F-5DBB-E3AD29C8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6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0EC4-7792-7EC6-02F0-8274DFCB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7BE0-913F-E0E9-E8D0-D27365DA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EM Spectrum vs. Earths Atmosphere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8DD13-972C-8546-99AB-62056D63B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5" descr="A diagram of a magnetic field&#10;&#10;Description automatically generated">
            <a:extLst>
              <a:ext uri="{FF2B5EF4-FFF2-40B4-BE49-F238E27FC236}">
                <a16:creationId xmlns:a16="http://schemas.microsoft.com/office/drawing/2014/main" id="{6BE6D1EC-68DC-65B8-53F4-38329D07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967" y="1590665"/>
            <a:ext cx="7546991" cy="423386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AC992A-E4A1-B5F9-EB67-C9A19930595F}"/>
              </a:ext>
            </a:extLst>
          </p:cNvPr>
          <p:cNvCxnSpPr/>
          <p:nvPr/>
        </p:nvCxnSpPr>
        <p:spPr>
          <a:xfrm flipV="1">
            <a:off x="4951562" y="2156604"/>
            <a:ext cx="0" cy="159588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AFE76F-8535-A197-687F-D1754077EEAA}"/>
              </a:ext>
            </a:extLst>
          </p:cNvPr>
          <p:cNvCxnSpPr/>
          <p:nvPr/>
        </p:nvCxnSpPr>
        <p:spPr>
          <a:xfrm flipV="1">
            <a:off x="4465743" y="2156604"/>
            <a:ext cx="0" cy="159588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2D75D8-1E59-126F-2634-E976D7B2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2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66FE-F5D6-5C24-28F2-0FBB786F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28A04-63A3-58F5-1C88-52C02883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Noise – Speckle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9751C-ED53-E9F4-2947-7D8E51EF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6694" cy="4351338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Speckle noise due to phase incoherence at the receiver (most significant contributor)</a:t>
            </a:r>
          </a:p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Appears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super grainy resolution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9574D-83E3-3AC9-25F0-A8BCF255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2F8056-E0C6-0C01-A2D0-5CEAA81A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5" y="365125"/>
            <a:ext cx="3978157" cy="50426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E8F824-CBCF-C899-7A91-20A475AC9C33}"/>
              </a:ext>
            </a:extLst>
          </p:cNvPr>
          <p:cNvSpPr txBox="1"/>
          <p:nvPr/>
        </p:nvSpPr>
        <p:spPr>
          <a:xfrm>
            <a:off x="7745505" y="5407732"/>
            <a:ext cx="3522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[2] Figure 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71588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AB21-6D05-7920-8F72-6AC80F15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6BDF-41ED-83D5-1CA9-725D3B90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Noise – Cross Range Ambiguity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1BE4AB-317B-DB04-EC36-999914CFE8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78684" cy="4351338"/>
              </a:xfrm>
            </p:spPr>
            <p:txBody>
              <a:bodyPr/>
              <a:lstStyle/>
              <a:p>
                <a:r>
                  <a:rPr lang="en-US" sz="28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range ambiguity is caused by sampling less than the Doppler Bandwidth and results in aliasing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Pulse Rep. Freq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 ambiguities are caused by overlapping returns, and appear as aliased or misplaced structures due to ambiguity in location</a:t>
                </a:r>
              </a:p>
              <a:p>
                <a:pPr lvl="1"/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Pulse Rep. Freq.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𝑐𝑊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  <m:r>
                          <a:rPr lang="en-US" b="0" i="1" baseline="3000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mitigate both, PRF must be satisfy both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1BE4AB-317B-DB04-EC36-999914CFE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78684" cy="4351338"/>
              </a:xfrm>
              <a:blipFill>
                <a:blip r:embed="rId2"/>
                <a:stretch>
                  <a:fillRect l="-1508" t="-2326" r="-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ollage of a mountain range&#10;&#10;Description automatically generated">
            <a:extLst>
              <a:ext uri="{FF2B5EF4-FFF2-40B4-BE49-F238E27FC236}">
                <a16:creationId xmlns:a16="http://schemas.microsoft.com/office/drawing/2014/main" id="{3219A159-135E-AFE0-C399-FE0C17A36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884" y="1541370"/>
            <a:ext cx="3552476" cy="47070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8CDE1A-9833-23F3-E5E0-A1809418324B}"/>
              </a:ext>
            </a:extLst>
          </p:cNvPr>
          <p:cNvSpPr txBox="1"/>
          <p:nvPr/>
        </p:nvSpPr>
        <p:spPr>
          <a:xfrm>
            <a:off x="8400916" y="6288238"/>
            <a:ext cx="356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SAR Basics - </a:t>
            </a:r>
            <a:endParaRPr lang="en-US" sz="800" dirty="0"/>
          </a:p>
          <a:p>
            <a:r>
              <a:rPr lang="en-US" sz="800" dirty="0">
                <a:hlinkClick r:id="rId4"/>
              </a:rPr>
              <a:t>https://descanso.jpl.nasa.gov/SciTechBook/series2/02Chap1_110106_amf.pdf</a:t>
            </a:r>
            <a:r>
              <a:rPr lang="en-US" sz="8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14DDF-98EF-3EFA-81A5-A822EC95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1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979B-5219-7419-1832-4B5061CD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C297-C9BF-9237-170C-8A9BDFD4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Regularization in SAR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D24F215-3227-5A3A-610F-9C190AF56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Which advantages would Tikhonov / Markov Random Field / PnP ADMM offer in reconstruction of SAR images?</a:t>
                </a:r>
              </a:p>
              <a:p>
                <a:r>
                  <a:rPr lang="en-US" dirty="0"/>
                  <a:t>Can any of the above assist in smoothing and accentuating where necessary?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𝑎𝑟𝑔𝑚𝑖𝑛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|∥2</m:t>
                    </m:r>
                  </m:oMath>
                </a14:m>
                <a:r>
                  <a:rPr lang="en-US" baseline="30000" dirty="0"/>
                  <a:t>   </a:t>
                </a:r>
                <a:r>
                  <a:rPr lang="en-US" dirty="0"/>
                  <a:t>[3]</a:t>
                </a:r>
              </a:p>
              <a:p>
                <a:endParaRPr lang="en-US" baseline="30000" dirty="0"/>
              </a:p>
              <a:p>
                <a:endParaRPr lang="en-US" baseline="30000" dirty="0"/>
              </a:p>
              <a:p>
                <a:endParaRPr lang="en-US" baseline="300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D24F215-3227-5A3A-610F-9C190AF56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DF78F-84CF-0475-0825-F02A4EA3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1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38B7-B981-BC23-BB6C-9F38E677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5019-1CEB-2C0B-B347-358F2BF3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References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E7136-D999-BF39-ED54-C785B605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effectLst/>
              </a:rPr>
              <a:t> [1]     </a:t>
            </a:r>
            <a:r>
              <a:rPr lang="en-US" sz="2800" dirty="0" err="1">
                <a:solidFill>
                  <a:schemeClr val="tx2"/>
                </a:solidFill>
                <a:effectLst/>
              </a:rPr>
              <a:t>Hysell</a:t>
            </a:r>
            <a:r>
              <a:rPr lang="en-US" sz="2800" dirty="0">
                <a:solidFill>
                  <a:schemeClr val="tx2"/>
                </a:solidFill>
                <a:effectLst/>
              </a:rPr>
              <a:t>, David. </a:t>
            </a:r>
            <a:r>
              <a:rPr lang="en-US" sz="2800" i="1" dirty="0">
                <a:solidFill>
                  <a:schemeClr val="tx2"/>
                </a:solidFill>
                <a:effectLst/>
              </a:rPr>
              <a:t>Antennas and Radar for Environmental Scientists and Engineers</a:t>
            </a:r>
            <a:r>
              <a:rPr lang="en-US" sz="2800" dirty="0">
                <a:solidFill>
                  <a:schemeClr val="tx2"/>
                </a:solidFill>
                <a:effectLst/>
              </a:rPr>
              <a:t>. Cambridge University Press, 2018.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[2]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tserrat" panose="020F0502020204030204" pitchFamily="34" charset="0"/>
              </a:rPr>
              <a:t>Lankoande</a:t>
            </a:r>
            <a:r>
              <a:rPr lang="en-US" b="0" i="0" dirty="0">
                <a:solidFill>
                  <a:srgbClr val="000000"/>
                </a:solidFill>
                <a:effectLst/>
                <a:latin typeface="Montserrat" panose="020F050202020403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Montserrat" panose="020F0502020204030204" pitchFamily="34" charset="0"/>
              </a:rPr>
              <a:t>Ousseini</a:t>
            </a:r>
            <a:r>
              <a:rPr lang="en-US" b="0" i="0" dirty="0">
                <a:solidFill>
                  <a:srgbClr val="000000"/>
                </a:solidFill>
                <a:effectLst/>
                <a:latin typeface="Montserrat" panose="020F0502020204030204" pitchFamily="34" charset="0"/>
              </a:rPr>
              <a:t>; Majeed M. Hayat; and Bal Santhanam. "Speckle noise modeling and reduction of SAR Images based Markov random fields." (2005).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effectLst/>
              </a:rPr>
              <a:t>[3] </a:t>
            </a:r>
            <a:r>
              <a:rPr lang="en-US" dirty="0">
                <a:effectLst/>
              </a:rPr>
              <a:t>Watson, F. M., et al. “On </a:t>
            </a:r>
            <a:r>
              <a:rPr lang="en-US" dirty="0" err="1">
                <a:effectLst/>
              </a:rPr>
              <a:t>Regularisation</a:t>
            </a:r>
            <a:r>
              <a:rPr lang="en-US" dirty="0">
                <a:effectLst/>
              </a:rPr>
              <a:t> of Coherent Imagery with Proximal Methods.” </a:t>
            </a:r>
            <a:r>
              <a:rPr lang="en-US" i="1" dirty="0" err="1">
                <a:effectLst/>
              </a:rPr>
              <a:t>arXiv.Org</a:t>
            </a:r>
            <a:r>
              <a:rPr lang="en-US" dirty="0">
                <a:effectLst/>
              </a:rPr>
              <a:t>, 29 Oct. 2024, </a:t>
            </a:r>
            <a:r>
              <a:rPr lang="en-US" dirty="0" err="1">
                <a:effectLst/>
              </a:rPr>
              <a:t>arxiv.org</a:t>
            </a:r>
            <a:r>
              <a:rPr lang="en-US" dirty="0">
                <a:effectLst/>
              </a:rPr>
              <a:t>/abs/2410.22161.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effectLst/>
              </a:rPr>
              <a:t>[4]</a:t>
            </a:r>
            <a:r>
              <a:rPr lang="en-US" i="1" dirty="0">
                <a:effectLst/>
              </a:rPr>
              <a:t> Plug-and-Play Synthetic Aperture Radar Image Formation Using Deep Priors | IEEE Journals &amp; Magazine | IEEE Xplore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ieeexplore.ieee.org</a:t>
            </a:r>
            <a:r>
              <a:rPr lang="en-US" dirty="0">
                <a:effectLst/>
              </a:rPr>
              <a:t>/document/9308950/. Accessed 8 Apr. 2026.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  <a:effectLst/>
              </a:rPr>
              <a:t>[5] </a:t>
            </a:r>
            <a:r>
              <a:rPr lang="en-US" dirty="0">
                <a:effectLst/>
              </a:rPr>
              <a:t>“Sar Data.” </a:t>
            </a:r>
            <a:r>
              <a:rPr lang="en-US" i="1" dirty="0">
                <a:effectLst/>
              </a:rPr>
              <a:t>Pathfinder Radar ISR &amp; SAR Systems</a:t>
            </a:r>
            <a:r>
              <a:rPr lang="en-US" dirty="0">
                <a:effectLst/>
              </a:rPr>
              <a:t>, 8 Apr. 2022, </a:t>
            </a:r>
            <a:r>
              <a:rPr lang="en-US" dirty="0" err="1">
                <a:effectLst/>
              </a:rPr>
              <a:t>www.sandia.gov</a:t>
            </a:r>
            <a:r>
              <a:rPr lang="en-US" dirty="0">
                <a:effectLst/>
              </a:rPr>
              <a:t>/radar/pathfinder-radar-</a:t>
            </a:r>
            <a:r>
              <a:rPr lang="en-US" dirty="0" err="1">
                <a:effectLst/>
              </a:rPr>
              <a:t>isr</a:t>
            </a:r>
            <a:r>
              <a:rPr lang="en-US" dirty="0">
                <a:effectLst/>
              </a:rPr>
              <a:t>-and-synthetic-aperture-radar-</a:t>
            </a:r>
            <a:r>
              <a:rPr lang="en-US" dirty="0" err="1">
                <a:effectLst/>
              </a:rPr>
              <a:t>sar</a:t>
            </a:r>
            <a:r>
              <a:rPr lang="en-US" dirty="0">
                <a:effectLst/>
              </a:rPr>
              <a:t>-systems/complex-data-clone/. </a:t>
            </a:r>
          </a:p>
          <a:p>
            <a:pPr marL="0" indent="0">
              <a:buNone/>
            </a:pPr>
            <a:r>
              <a:rPr lang="en-US" dirty="0"/>
              <a:t>[6] </a:t>
            </a:r>
            <a:r>
              <a:rPr lang="en-US" dirty="0" err="1">
                <a:effectLst/>
              </a:rPr>
              <a:t>Mahafza</a:t>
            </a:r>
            <a:r>
              <a:rPr lang="en-US" dirty="0">
                <a:effectLst/>
              </a:rPr>
              <a:t>, Bassem R. </a:t>
            </a:r>
            <a:r>
              <a:rPr lang="en-US" i="1" dirty="0">
                <a:effectLst/>
              </a:rPr>
              <a:t>Radar Systems Analysis and Design Using MATLAB</a:t>
            </a:r>
            <a:r>
              <a:rPr lang="en-US" dirty="0">
                <a:effectLst/>
              </a:rPr>
              <a:t>. CRC Press, 2000. </a:t>
            </a: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marL="0" indent="0">
              <a:buNone/>
            </a:pPr>
            <a:endParaRPr lang="en-US" sz="2800" dirty="0">
              <a:solidFill>
                <a:schemeClr val="tx2"/>
              </a:solidFill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6A6F9-C499-47C0-7035-6D489187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6DBEB8-2AD1-0BD2-3770-495492AB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147F-8B07-43F8-357F-BA5ACAF5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Reconstruction Methods - Tikhonov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C10FFE-8E21-C20C-BD51-8CF4F511A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C0996C-A747-203D-CF74-CD75BE6E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5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E901EF-8F75-121C-9C7A-9D321A48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5425-5640-794C-C755-8E446C86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2"/>
                </a:solidFill>
              </a:rPr>
              <a:t>Reconstruction Methods – Markov Random Field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E7944-D9A5-7E29-A750-7992E461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39B7B-0354-22F3-DB29-84A35B94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0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2C7312-BE93-859B-F4D3-55F055C9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996-5A36-E4C2-4D4B-97882BDE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2"/>
                </a:solidFill>
              </a:rPr>
              <a:t>Reconstruction Methods – Plug n Play ADMM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2AD04-A093-009D-5A11-E8B8540D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73655-761F-961A-E37C-53C1A2C8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1D16-C4AD-3640-ACAA-FAA62B75A1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34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1168</Words>
  <Application>Microsoft Macintosh PowerPoint</Application>
  <PresentationFormat>Widescreen</PresentationFormat>
  <Paragraphs>128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Montserrat</vt:lpstr>
      <vt:lpstr>Times New Roman</vt:lpstr>
      <vt:lpstr>Office Theme</vt:lpstr>
      <vt:lpstr>Synthetic Aperture Radar (SAR)</vt:lpstr>
      <vt:lpstr>Motivation &amp; Goals</vt:lpstr>
      <vt:lpstr>RADAR</vt:lpstr>
      <vt:lpstr>EM Spectrum vs. Earths Atmosphere</vt:lpstr>
      <vt:lpstr>Radar parameters to care about</vt:lpstr>
      <vt:lpstr>Radar parameters to care about</vt:lpstr>
      <vt:lpstr>SAR parameters to care about</vt:lpstr>
      <vt:lpstr>Example of Synthesized Aperture </vt:lpstr>
      <vt:lpstr>EM Spectrum vs. Earths Atmosphere</vt:lpstr>
      <vt:lpstr>Noise – Speckle</vt:lpstr>
      <vt:lpstr>Noise – Cross Range Ambiguity</vt:lpstr>
      <vt:lpstr>Regularization in SAR</vt:lpstr>
      <vt:lpstr>References</vt:lpstr>
      <vt:lpstr>Reconstruction Methods - Tikhonov</vt:lpstr>
      <vt:lpstr>Reconstruction Methods – Markov Random Field</vt:lpstr>
      <vt:lpstr>Reconstruction Methods – Plug n Play ADMM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Lemus, Christopher</dc:creator>
  <cp:lastModifiedBy>Lemus, Christopher</cp:lastModifiedBy>
  <cp:revision>67</cp:revision>
  <dcterms:created xsi:type="dcterms:W3CDTF">2026-04-07T17:36:05Z</dcterms:created>
  <dcterms:modified xsi:type="dcterms:W3CDTF">2026-04-09T01:57:57Z</dcterms:modified>
</cp:coreProperties>
</file>